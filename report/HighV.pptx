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Nunito"/>
      <p:regular r:id="rId23"/>
      <p:bold r:id="rId24"/>
      <p:italic r:id="rId25"/>
      <p:boldItalic r:id="rId26"/>
    </p:embeddedFont>
    <p:embeddedFont>
      <p:font typeface="Maven Pro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unito-bold.fntdata"/><Relationship Id="rId23" Type="http://schemas.openxmlformats.org/officeDocument/2006/relationships/font" Target="fonts/Nuni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boldItalic.fntdata"/><Relationship Id="rId25" Type="http://schemas.openxmlformats.org/officeDocument/2006/relationships/font" Target="fonts/Nunito-italic.fntdata"/><Relationship Id="rId28" Type="http://schemas.openxmlformats.org/officeDocument/2006/relationships/font" Target="fonts/MavenPro-bold.fntdata"/><Relationship Id="rId27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ed0fd1d6a0_1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ed0fd1d6a0_1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9496b6cb7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9496b6cb7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ed0d771f2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ed0d771f2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ed0d771f2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ed0d771f2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9496b6cb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a9496b6cb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9496b6cb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a9496b6cb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9496b6cb7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a9496b6cb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9496b6cb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a9496b6cb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9496b6cb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a9496b6cb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9496b6cb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a9496b6cb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a9496b6cb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a9496b6cb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ed0d771f2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ed0d771f2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ed0d771f2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ed0d771f2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ed0d771f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ed0d771f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a9496b6cb7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a9496b6cb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a9496b6cb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a9496b6cb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HighV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Computer Vision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Motivation: Velocity-Position Trade-off</a:t>
            </a:r>
            <a:endParaRPr sz="1911"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597875"/>
            <a:ext cx="3430500" cy="29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aven Pro"/>
              <a:buChar char="-"/>
            </a:pPr>
            <a:r>
              <a:rPr lang="ru" sz="2000">
                <a:latin typeface="Maven Pro"/>
                <a:ea typeface="Maven Pro"/>
                <a:cs typeface="Maven Pro"/>
                <a:sym typeface="Maven Pro"/>
              </a:rPr>
              <a:t>Classical lane following control </a:t>
            </a:r>
            <a:r>
              <a:rPr b="1" lang="ru" sz="2000">
                <a:latin typeface="Maven Pro"/>
                <a:ea typeface="Maven Pro"/>
                <a:cs typeface="Maven Pro"/>
                <a:sym typeface="Maven Pro"/>
              </a:rPr>
              <a:t>restricts </a:t>
            </a:r>
            <a:r>
              <a:rPr lang="ru" sz="2000">
                <a:latin typeface="Maven Pro"/>
                <a:ea typeface="Maven Pro"/>
                <a:cs typeface="Maven Pro"/>
                <a:sym typeface="Maven Pro"/>
              </a:rPr>
              <a:t>velocity</a:t>
            </a:r>
            <a:endParaRPr sz="2000">
              <a:latin typeface="Maven Pro"/>
              <a:ea typeface="Maven Pro"/>
              <a:cs typeface="Maven Pro"/>
              <a:sym typeface="Maven Pr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aven Pro"/>
              <a:buChar char="-"/>
            </a:pPr>
            <a:r>
              <a:rPr lang="ru" sz="2000">
                <a:latin typeface="Maven Pro"/>
                <a:ea typeface="Maven Pro"/>
                <a:cs typeface="Maven Pro"/>
                <a:sym typeface="Maven Pro"/>
              </a:rPr>
              <a:t>Intended velocity can be achieved by </a:t>
            </a:r>
            <a:r>
              <a:rPr b="1" lang="ru" sz="2000">
                <a:latin typeface="Maven Pro"/>
                <a:ea typeface="Maven Pro"/>
                <a:cs typeface="Maven Pro"/>
                <a:sym typeface="Maven Pro"/>
              </a:rPr>
              <a:t>sacrificing </a:t>
            </a:r>
            <a:r>
              <a:rPr lang="ru" sz="2000">
                <a:latin typeface="Maven Pro"/>
                <a:ea typeface="Maven Pro"/>
                <a:cs typeface="Maven Pro"/>
                <a:sym typeface="Maven Pro"/>
              </a:rPr>
              <a:t>the lane following</a:t>
            </a:r>
            <a:endParaRPr sz="20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285" name="Google Shape;2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9000" y="1773925"/>
            <a:ext cx="4104901" cy="2167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Idea</a:t>
            </a:r>
            <a:endParaRPr sz="1911"/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165900" y="1529175"/>
            <a:ext cx="4406100" cy="29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latin typeface="Maven Pro"/>
                <a:ea typeface="Maven Pro"/>
                <a:cs typeface="Maven Pro"/>
                <a:sym typeface="Maven Pro"/>
              </a:rPr>
              <a:t>The main idea of the project is to make the system that will:</a:t>
            </a:r>
            <a:endParaRPr sz="2000">
              <a:latin typeface="Maven Pro"/>
              <a:ea typeface="Maven Pro"/>
              <a:cs typeface="Maven Pro"/>
              <a:sym typeface="Maven Pro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Font typeface="Maven Pro"/>
              <a:buChar char="-"/>
            </a:pPr>
            <a:r>
              <a:rPr lang="ru" sz="2000">
                <a:latin typeface="Maven Pro"/>
                <a:ea typeface="Maven Pro"/>
                <a:cs typeface="Maven Pro"/>
                <a:sym typeface="Maven Pro"/>
              </a:rPr>
              <a:t>Make a test run on the highway</a:t>
            </a:r>
            <a:endParaRPr sz="2000">
              <a:latin typeface="Maven Pro"/>
              <a:ea typeface="Maven Pro"/>
              <a:cs typeface="Maven Pro"/>
              <a:sym typeface="Maven Pr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aven Pro"/>
              <a:buChar char="-"/>
            </a:pPr>
            <a:r>
              <a:rPr lang="ru" sz="2000">
                <a:latin typeface="Maven Pro"/>
                <a:ea typeface="Maven Pro"/>
                <a:cs typeface="Maven Pro"/>
                <a:sym typeface="Maven Pro"/>
              </a:rPr>
              <a:t>Analyze data from test run</a:t>
            </a:r>
            <a:endParaRPr sz="2000">
              <a:latin typeface="Maven Pro"/>
              <a:ea typeface="Maven Pro"/>
              <a:cs typeface="Maven Pro"/>
              <a:sym typeface="Maven Pr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aven Pro"/>
              <a:buChar char="-"/>
            </a:pPr>
            <a:r>
              <a:rPr lang="ru" sz="2000">
                <a:latin typeface="Maven Pro"/>
                <a:ea typeface="Maven Pro"/>
                <a:cs typeface="Maven Pro"/>
                <a:sym typeface="Maven Pro"/>
              </a:rPr>
              <a:t>Find turns with apex</a:t>
            </a:r>
            <a:endParaRPr sz="2000">
              <a:latin typeface="Maven Pro"/>
              <a:ea typeface="Maven Pro"/>
              <a:cs typeface="Maven Pro"/>
              <a:sym typeface="Maven Pr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Maven Pro"/>
              <a:buChar char="-"/>
            </a:pPr>
            <a:r>
              <a:rPr lang="ru" sz="2000">
                <a:latin typeface="Maven Pro"/>
                <a:ea typeface="Maven Pro"/>
                <a:cs typeface="Maven Pro"/>
                <a:sym typeface="Maven Pro"/>
              </a:rPr>
              <a:t>Calculate optimal velocities</a:t>
            </a:r>
            <a:endParaRPr sz="2000"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292" name="Google Shape;292;p15" title="charles-leclerc-ferrari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3075" y="1597875"/>
            <a:ext cx="4451626" cy="250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Methods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type="title"/>
          </p:nvPr>
        </p:nvSpPr>
        <p:spPr>
          <a:xfrm>
            <a:off x="1393575" y="5733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Multicamera</a:t>
            </a:r>
            <a:endParaRPr/>
          </a:p>
        </p:txBody>
      </p:sp>
      <p:pic>
        <p:nvPicPr>
          <p:cNvPr id="303" name="Google Shape;30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938" y="2109100"/>
            <a:ext cx="2553975" cy="17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7"/>
          <p:cNvSpPr txBox="1"/>
          <p:nvPr/>
        </p:nvSpPr>
        <p:spPr>
          <a:xfrm>
            <a:off x="1424963" y="1770100"/>
            <a:ext cx="18939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Problem! No road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5" name="Google Shape;30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1000" y="1012647"/>
            <a:ext cx="1450556" cy="1096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6" name="Google Shape;306;p17"/>
          <p:cNvCxnSpPr>
            <a:stCxn id="303" idx="3"/>
          </p:cNvCxnSpPr>
          <p:nvPr/>
        </p:nvCxnSpPr>
        <p:spPr>
          <a:xfrm>
            <a:off x="3648912" y="2992450"/>
            <a:ext cx="26265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7" name="Google Shape;307;p17"/>
          <p:cNvSpPr txBox="1"/>
          <p:nvPr/>
        </p:nvSpPr>
        <p:spPr>
          <a:xfrm>
            <a:off x="3854025" y="2643575"/>
            <a:ext cx="2109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Solution: few cameras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8" name="Google Shape;30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9350" y="2381975"/>
            <a:ext cx="1513850" cy="109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2685" y="3709279"/>
            <a:ext cx="1547252" cy="115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 txBox="1"/>
          <p:nvPr>
            <p:ph type="title"/>
          </p:nvPr>
        </p:nvSpPr>
        <p:spPr>
          <a:xfrm>
            <a:off x="1393575" y="5733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Image Processing</a:t>
            </a:r>
            <a:endParaRPr/>
          </a:p>
        </p:txBody>
      </p:sp>
      <p:sp>
        <p:nvSpPr>
          <p:cNvPr id="315" name="Google Shape;315;p18"/>
          <p:cNvSpPr txBox="1"/>
          <p:nvPr/>
        </p:nvSpPr>
        <p:spPr>
          <a:xfrm>
            <a:off x="3769100" y="2102350"/>
            <a:ext cx="21096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Canny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6" name="Google Shape;3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525" y="1994637"/>
            <a:ext cx="2322400" cy="2745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8"/>
          <p:cNvSpPr txBox="1"/>
          <p:nvPr/>
        </p:nvSpPr>
        <p:spPr>
          <a:xfrm>
            <a:off x="685300" y="1572625"/>
            <a:ext cx="201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Original image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8" name="Google Shape;31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5913" y="2429443"/>
            <a:ext cx="2510600" cy="18755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9" name="Google Shape;319;p18"/>
          <p:cNvCxnSpPr>
            <a:stCxn id="316" idx="3"/>
            <a:endCxn id="318" idx="1"/>
          </p:cNvCxnSpPr>
          <p:nvPr/>
        </p:nvCxnSpPr>
        <p:spPr>
          <a:xfrm>
            <a:off x="2806925" y="3367200"/>
            <a:ext cx="61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20" name="Google Shape;32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92669" y="2668984"/>
            <a:ext cx="2510601" cy="13964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1" name="Google Shape;321;p18"/>
          <p:cNvCxnSpPr>
            <a:stCxn id="318" idx="3"/>
            <a:endCxn id="320" idx="1"/>
          </p:cNvCxnSpPr>
          <p:nvPr/>
        </p:nvCxnSpPr>
        <p:spPr>
          <a:xfrm>
            <a:off x="5936513" y="3367197"/>
            <a:ext cx="556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2" name="Google Shape;322;p18"/>
          <p:cNvSpPr txBox="1"/>
          <p:nvPr/>
        </p:nvSpPr>
        <p:spPr>
          <a:xfrm>
            <a:off x="6840875" y="2326750"/>
            <a:ext cx="1535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Hough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"/>
          <p:cNvSpPr txBox="1"/>
          <p:nvPr>
            <p:ph type="title"/>
          </p:nvPr>
        </p:nvSpPr>
        <p:spPr>
          <a:xfrm>
            <a:off x="1393575" y="5733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PD Controller Sensor Measurement</a:t>
            </a:r>
            <a:endParaRPr/>
          </a:p>
        </p:txBody>
      </p:sp>
      <p:pic>
        <p:nvPicPr>
          <p:cNvPr id="328" name="Google Shape;3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778" y="2103446"/>
            <a:ext cx="3645250" cy="2027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9"/>
          <p:cNvSpPr txBox="1"/>
          <p:nvPr/>
        </p:nvSpPr>
        <p:spPr>
          <a:xfrm>
            <a:off x="5327175" y="2219625"/>
            <a:ext cx="3096900" cy="17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purpose is to find the error between central red line and green dot.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error can be either positive either negative.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error shows the way to rotate and the intensity of rotation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title"/>
          </p:nvPr>
        </p:nvSpPr>
        <p:spPr>
          <a:xfrm>
            <a:off x="1393575" y="5733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Post Processing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568000" y="1509900"/>
            <a:ext cx="2764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How to find turns?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6" name="Google Shape;33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825" y="1868975"/>
            <a:ext cx="2951001" cy="2933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7" name="Google Shape;337;p20"/>
          <p:cNvCxnSpPr>
            <a:stCxn id="336" idx="3"/>
            <a:endCxn id="338" idx="1"/>
          </p:cNvCxnSpPr>
          <p:nvPr/>
        </p:nvCxnSpPr>
        <p:spPr>
          <a:xfrm>
            <a:off x="3159826" y="3335925"/>
            <a:ext cx="89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38" name="Google Shape;33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8075" y="1965112"/>
            <a:ext cx="4259599" cy="27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"/>
          <p:cNvSpPr txBox="1"/>
          <p:nvPr>
            <p:ph type="title"/>
          </p:nvPr>
        </p:nvSpPr>
        <p:spPr>
          <a:xfrm>
            <a:off x="1393575" y="5733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Post Processing</a:t>
            </a:r>
            <a:endParaRPr/>
          </a:p>
        </p:txBody>
      </p:sp>
      <p:pic>
        <p:nvPicPr>
          <p:cNvPr id="344" name="Google Shape;3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025" y="1994525"/>
            <a:ext cx="4134975" cy="221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1"/>
          <p:cNvSpPr txBox="1"/>
          <p:nvPr/>
        </p:nvSpPr>
        <p:spPr>
          <a:xfrm>
            <a:off x="4927675" y="2515180"/>
            <a:ext cx="2558400" cy="11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Calculating curvature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Finding apex point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Finding points of entry and exit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2"/>
          <p:cNvSpPr txBox="1"/>
          <p:nvPr>
            <p:ph type="title"/>
          </p:nvPr>
        </p:nvSpPr>
        <p:spPr>
          <a:xfrm>
            <a:off x="1393575" y="5733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Post Processing</a:t>
            </a:r>
            <a:endParaRPr/>
          </a:p>
        </p:txBody>
      </p:sp>
      <p:pic>
        <p:nvPicPr>
          <p:cNvPr id="351" name="Google Shape;3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775" y="1779201"/>
            <a:ext cx="3823226" cy="24607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2" name="Google Shape;352;p22"/>
          <p:cNvCxnSpPr>
            <a:stCxn id="351" idx="3"/>
          </p:cNvCxnSpPr>
          <p:nvPr/>
        </p:nvCxnSpPr>
        <p:spPr>
          <a:xfrm>
            <a:off x="4572001" y="3009576"/>
            <a:ext cx="8415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53" name="Google Shape;35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3500" y="1779200"/>
            <a:ext cx="3393401" cy="265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3"/>
          <p:cNvSpPr txBox="1"/>
          <p:nvPr>
            <p:ph type="title"/>
          </p:nvPr>
        </p:nvSpPr>
        <p:spPr>
          <a:xfrm>
            <a:off x="1393575" y="5733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Post Processing</a:t>
            </a:r>
            <a:endParaRPr/>
          </a:p>
        </p:txBody>
      </p:sp>
      <p:pic>
        <p:nvPicPr>
          <p:cNvPr id="359" name="Google Shape;3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8110" y="1893375"/>
            <a:ext cx="4027540" cy="25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575" y="2043775"/>
            <a:ext cx="4134975" cy="2217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1" name="Google Shape;361;p23"/>
          <p:cNvCxnSpPr>
            <a:stCxn id="360" idx="3"/>
            <a:endCxn id="359" idx="1"/>
          </p:cNvCxnSpPr>
          <p:nvPr/>
        </p:nvCxnSpPr>
        <p:spPr>
          <a:xfrm>
            <a:off x="4281550" y="3152425"/>
            <a:ext cx="69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2" name="Google Shape;362;p23"/>
          <p:cNvCxnSpPr/>
          <p:nvPr/>
        </p:nvCxnSpPr>
        <p:spPr>
          <a:xfrm flipH="1" rot="10800000">
            <a:off x="4695500" y="4014450"/>
            <a:ext cx="2082600" cy="52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3" name="Google Shape;363;p23"/>
          <p:cNvSpPr txBox="1"/>
          <p:nvPr/>
        </p:nvSpPr>
        <p:spPr>
          <a:xfrm>
            <a:off x="3402875" y="4337475"/>
            <a:ext cx="17145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New trajectory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"/>
          <p:cNvSpPr txBox="1"/>
          <p:nvPr>
            <p:ph type="title"/>
          </p:nvPr>
        </p:nvSpPr>
        <p:spPr>
          <a:xfrm>
            <a:off x="1393575" y="5733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Velocity profile</a:t>
            </a:r>
            <a:endParaRPr/>
          </a:p>
        </p:txBody>
      </p:sp>
      <p:pic>
        <p:nvPicPr>
          <p:cNvPr id="369" name="Google Shape;36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1475" y="1518550"/>
            <a:ext cx="4842311" cy="326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325" y="1518550"/>
            <a:ext cx="3469553" cy="3266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1" name="Google Shape;371;p24"/>
          <p:cNvCxnSpPr>
            <a:stCxn id="370" idx="3"/>
            <a:endCxn id="369" idx="1"/>
          </p:cNvCxnSpPr>
          <p:nvPr/>
        </p:nvCxnSpPr>
        <p:spPr>
          <a:xfrm>
            <a:off x="3594878" y="3151588"/>
            <a:ext cx="33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Our Team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Roles and Contribution</a:t>
            </a:r>
            <a:endParaRPr/>
          </a:p>
        </p:txBody>
      </p:sp>
      <p:sp>
        <p:nvSpPr>
          <p:cNvPr id="382" name="Google Shape;382;p26"/>
          <p:cNvSpPr txBox="1"/>
          <p:nvPr>
            <p:ph idx="1" type="body"/>
          </p:nvPr>
        </p:nvSpPr>
        <p:spPr>
          <a:xfrm>
            <a:off x="115350" y="1337300"/>
            <a:ext cx="6435900" cy="36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/>
              <a:t>Vladimir Toporkov</a:t>
            </a:r>
            <a:r>
              <a:rPr lang="ru" sz="1800"/>
              <a:t>: </a:t>
            </a:r>
            <a:br>
              <a:rPr lang="ru" sz="1800"/>
            </a:br>
            <a:r>
              <a:rPr lang="ru" sz="1800"/>
              <a:t>	</a:t>
            </a:r>
            <a:r>
              <a:rPr b="1" lang="ru" sz="1800">
                <a:latin typeface="Maven Pro"/>
                <a:ea typeface="Maven Pro"/>
                <a:cs typeface="Maven Pro"/>
                <a:sym typeface="Maven Pro"/>
              </a:rPr>
              <a:t>Role:</a:t>
            </a:r>
            <a:r>
              <a:rPr lang="ru" sz="1800"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i="1" lang="ru" sz="1800">
                <a:latin typeface="Maven Pro"/>
                <a:ea typeface="Maven Pro"/>
                <a:cs typeface="Maven Pro"/>
                <a:sym typeface="Maven Pro"/>
              </a:rPr>
              <a:t>CV + Control</a:t>
            </a:r>
            <a:endParaRPr i="1" sz="1800"/>
          </a:p>
          <a:p>
            <a:pPr indent="-325755" lvl="1" marL="9144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ru" sz="1800"/>
              <a:t>Post-processing pipeline</a:t>
            </a:r>
            <a:endParaRPr sz="1800"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ru" sz="1800"/>
              <a:t>Vehicle cameras setup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ru" sz="1800">
                <a:latin typeface="Maven Pro"/>
                <a:ea typeface="Maven Pro"/>
                <a:cs typeface="Maven Pro"/>
                <a:sym typeface="Maven Pro"/>
              </a:rPr>
              <a:t>	</a:t>
            </a:r>
            <a:r>
              <a:rPr b="1" lang="ru" sz="1800">
                <a:latin typeface="Maven Pro"/>
                <a:ea typeface="Maven Pro"/>
                <a:cs typeface="Maven Pro"/>
                <a:sym typeface="Maven Pro"/>
              </a:rPr>
              <a:t>Ilya Grigorev:</a:t>
            </a:r>
            <a:r>
              <a:rPr lang="ru" sz="1800">
                <a:latin typeface="Maven Pro"/>
                <a:ea typeface="Maven Pro"/>
                <a:cs typeface="Maven Pro"/>
                <a:sym typeface="Maven Pro"/>
              </a:rPr>
              <a:t> </a:t>
            </a:r>
            <a:br>
              <a:rPr lang="ru" sz="1800">
                <a:latin typeface="Maven Pro"/>
                <a:ea typeface="Maven Pro"/>
                <a:cs typeface="Maven Pro"/>
                <a:sym typeface="Maven Pro"/>
              </a:rPr>
            </a:br>
            <a:r>
              <a:rPr lang="ru" sz="1800">
                <a:latin typeface="Maven Pro"/>
                <a:ea typeface="Maven Pro"/>
                <a:cs typeface="Maven Pro"/>
                <a:sym typeface="Maven Pro"/>
              </a:rPr>
              <a:t>		</a:t>
            </a:r>
            <a:r>
              <a:rPr b="1" lang="ru" sz="1800">
                <a:latin typeface="Maven Pro"/>
                <a:ea typeface="Maven Pro"/>
                <a:cs typeface="Maven Pro"/>
                <a:sym typeface="Maven Pro"/>
              </a:rPr>
              <a:t>Role:</a:t>
            </a:r>
            <a:r>
              <a:rPr lang="ru" sz="1800"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i="1" lang="ru" sz="1800">
                <a:latin typeface="Maven Pro"/>
                <a:ea typeface="Maven Pro"/>
                <a:cs typeface="Maven Pro"/>
                <a:sym typeface="Maven Pro"/>
              </a:rPr>
              <a:t>CV + Control</a:t>
            </a:r>
            <a:endParaRPr i="1" sz="1800">
              <a:latin typeface="Maven Pro"/>
              <a:ea typeface="Maven Pro"/>
              <a:cs typeface="Maven Pro"/>
              <a:sym typeface="Maven Pro"/>
            </a:endParaRPr>
          </a:p>
          <a:p>
            <a:pPr indent="-325755" lvl="1" marL="914400" rtl="0" algn="l">
              <a:spcBef>
                <a:spcPts val="1200"/>
              </a:spcBef>
              <a:spcAft>
                <a:spcPts val="0"/>
              </a:spcAft>
              <a:buSzPct val="100000"/>
              <a:buFont typeface="Maven Pro"/>
              <a:buChar char="-"/>
            </a:pPr>
            <a:r>
              <a:rPr i="1" lang="ru" sz="1800">
                <a:latin typeface="Maven Pro"/>
                <a:ea typeface="Maven Pro"/>
                <a:cs typeface="Maven Pro"/>
                <a:sym typeface="Maven Pro"/>
              </a:rPr>
              <a:t>Camera hierarchy control logic</a:t>
            </a:r>
            <a:endParaRPr i="1" sz="1800">
              <a:latin typeface="Maven Pro"/>
              <a:ea typeface="Maven Pro"/>
              <a:cs typeface="Maven Pro"/>
              <a:sym typeface="Maven Pro"/>
            </a:endParaRPr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Maven Pro"/>
              <a:buChar char="-"/>
            </a:pPr>
            <a:r>
              <a:rPr i="1" lang="ru" sz="1800">
                <a:latin typeface="Maven Pro"/>
                <a:ea typeface="Maven Pro"/>
                <a:cs typeface="Maven Pro"/>
                <a:sym typeface="Maven Pro"/>
              </a:rPr>
              <a:t>PID-controller design and tests</a:t>
            </a:r>
            <a:endParaRPr sz="18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800">
                <a:latin typeface="Maven Pro"/>
                <a:ea typeface="Maven Pro"/>
                <a:cs typeface="Maven Pro"/>
                <a:sym typeface="Maven Pro"/>
              </a:rPr>
              <a:t>Salavat Faizullin:</a:t>
            </a:r>
            <a:r>
              <a:rPr lang="ru" sz="1800">
                <a:latin typeface="Maven Pro"/>
                <a:ea typeface="Maven Pro"/>
                <a:cs typeface="Maven Pro"/>
                <a:sym typeface="Maven Pro"/>
              </a:rPr>
              <a:t> </a:t>
            </a:r>
            <a:br>
              <a:rPr lang="ru" sz="1800">
                <a:latin typeface="Maven Pro"/>
                <a:ea typeface="Maven Pro"/>
                <a:cs typeface="Maven Pro"/>
                <a:sym typeface="Maven Pro"/>
              </a:rPr>
            </a:br>
            <a:r>
              <a:rPr lang="ru" sz="1800">
                <a:latin typeface="Maven Pro"/>
                <a:ea typeface="Maven Pro"/>
                <a:cs typeface="Maven Pro"/>
                <a:sym typeface="Maven Pro"/>
              </a:rPr>
              <a:t>	</a:t>
            </a:r>
            <a:r>
              <a:rPr b="1" lang="ru" sz="1800">
                <a:latin typeface="Maven Pro"/>
                <a:ea typeface="Maven Pro"/>
                <a:cs typeface="Maven Pro"/>
                <a:sym typeface="Maven Pro"/>
              </a:rPr>
              <a:t>Role:</a:t>
            </a:r>
            <a:r>
              <a:rPr lang="ru" sz="1800"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i="1" lang="ru" sz="1800">
                <a:latin typeface="Maven Pro"/>
                <a:ea typeface="Maven Pro"/>
                <a:cs typeface="Maven Pro"/>
                <a:sym typeface="Maven Pro"/>
              </a:rPr>
              <a:t>CV</a:t>
            </a:r>
            <a:endParaRPr i="1" sz="1800">
              <a:latin typeface="Maven Pro"/>
              <a:ea typeface="Maven Pro"/>
              <a:cs typeface="Maven Pro"/>
              <a:sym typeface="Maven Pro"/>
            </a:endParaRPr>
          </a:p>
          <a:p>
            <a:pPr indent="-325755" lvl="1" marL="914400" rtl="0" algn="l">
              <a:spcBef>
                <a:spcPts val="1200"/>
              </a:spcBef>
              <a:spcAft>
                <a:spcPts val="0"/>
              </a:spcAft>
              <a:buSzPct val="100000"/>
              <a:buFont typeface="Maven Pro"/>
              <a:buChar char="-"/>
            </a:pPr>
            <a:r>
              <a:rPr i="1" lang="ru" sz="1800">
                <a:latin typeface="Maven Pro"/>
                <a:ea typeface="Maven Pro"/>
                <a:cs typeface="Maven Pro"/>
                <a:sym typeface="Maven Pro"/>
              </a:rPr>
              <a:t>Test map implementation</a:t>
            </a:r>
            <a:endParaRPr i="1" sz="1800">
              <a:latin typeface="Maven Pro"/>
              <a:ea typeface="Maven Pro"/>
              <a:cs typeface="Maven Pro"/>
              <a:sym typeface="Maven Pro"/>
            </a:endParaRPr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Font typeface="Maven Pro"/>
              <a:buChar char="-"/>
            </a:pPr>
            <a:r>
              <a:rPr i="1" lang="ru" sz="1800">
                <a:latin typeface="Maven Pro"/>
                <a:ea typeface="Maven Pro"/>
                <a:cs typeface="Maven Pro"/>
                <a:sym typeface="Maven Pro"/>
              </a:rPr>
              <a:t>Lane detection methods exploration and documentation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7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Results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8"/>
          <p:cNvSpPr txBox="1"/>
          <p:nvPr>
            <p:ph type="title"/>
          </p:nvPr>
        </p:nvSpPr>
        <p:spPr>
          <a:xfrm>
            <a:off x="1393575" y="5733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Results</a:t>
            </a:r>
            <a:endParaRPr/>
          </a:p>
        </p:txBody>
      </p:sp>
      <p:pic>
        <p:nvPicPr>
          <p:cNvPr id="393" name="Google Shape;39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9175" y="1303100"/>
            <a:ext cx="5087100" cy="299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650" y="1824025"/>
            <a:ext cx="2901225" cy="1956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5" name="Google Shape;395;p28"/>
          <p:cNvCxnSpPr>
            <a:stCxn id="394" idx="3"/>
            <a:endCxn id="393" idx="1"/>
          </p:cNvCxnSpPr>
          <p:nvPr/>
        </p:nvCxnSpPr>
        <p:spPr>
          <a:xfrm>
            <a:off x="3331875" y="2802450"/>
            <a:ext cx="567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6" name="Google Shape;396;p28"/>
          <p:cNvSpPr txBox="1"/>
          <p:nvPr/>
        </p:nvSpPr>
        <p:spPr>
          <a:xfrm>
            <a:off x="1926750" y="4346500"/>
            <a:ext cx="48237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Maximum velocity and acceleration in turns calculated.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Logic for moving along old and new trajectory implemented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9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Demo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